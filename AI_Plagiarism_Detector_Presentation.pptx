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88952" cy="36576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COMBAT ONLINE PLAGIARISM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B82F6"/>
                </a:solidFill>
              </a:rPr>
              <a:t>WITH ARTIFICIAL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AD4FB"/>
                </a:solidFill>
              </a:rPr>
              <a:t>An AI-Powered Plagiarism Detection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383280"/>
            <a:ext cx="57881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BTech CSE Final Year Project  ●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DD3FC"/>
                </a:solidFill>
              </a:rPr>
              <a:t>Technology Stack:  Python  ·  FastAPI  ·  React.js  ·  NLP  ·  SQLite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F0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DD3FC"/>
                </a:solidFill>
              </a:rPr>
              <a:t>TF-IDF  ●  N-Gram  ●  Fuzzy Matching  ●  PDF Reports  ●  REST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B82F6"/>
                </a:solidFill>
              </a:rPr>
              <a:t>What we will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66928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50876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▸  01  Project Overview &amp; Problem Statement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▸  02  Objectives &amp; Scope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▸  03  Technologies Used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▸  04  System Architecture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▸  05  NLP Pipeline Explained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▸  06  Algorithm 1 — TF-IDF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▸  07  Algorithm 2 — N-Gram Similarity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▸  08  Algorithm 3 — Fuzzy Matching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▸  09  Combined Scoring Engine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▸  10  Database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566928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0876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▸  11  API Endpoints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▸  12  Frontend Pages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▸  13  Project Folder Structure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▸  14  How to Run the Project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▸  15  Test Results &amp; Evaluation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▸  16  Live Demo Walkthrough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▸  17  Limitations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▸  18  Future Enhancements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▸  19  Viva Q&amp;A Highlights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▸  20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B82F6"/>
                </a:solidFill>
              </a:rPr>
              <a:t>What is this project and why does it matter?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7315200" cy="1463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What Is This Project?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An AI-powered web application that automatically detects plagiarism in documents by comparing text using three NLP algorithms and returning a combined similarity score with detailed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63240"/>
            <a:ext cx="530352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3154680"/>
            <a:ext cx="502920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DC2626"/>
                </a:solidFill>
              </a:rPr>
              <a:t>❌  The Problem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●  Manual checking takes hours for teachers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●  Students paraphrase to evade simple tools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●  No documentation / evidence trail exists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●  No centralized system across departments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3063240"/>
            <a:ext cx="612648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3154680"/>
            <a:ext cx="585216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6A34A"/>
                </a:solidFill>
              </a:rPr>
              <a:t>✅  Our Solution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●  Check documents in seconds, not hours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●  Detect paraphrasing with TF-IDF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●  Generate PDF evidence reports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●  Store full analysis history in DB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Objectives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B82F6"/>
                </a:solidFill>
              </a:rPr>
              <a:t>What we set out to 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713232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5087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E3A8A"/>
                </a:solidFill>
              </a:rPr>
              <a:t>🎯  Project Objectives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Implement multi-algorithm NLP pipeline (TF-IDF + N-gram + Fuzzy)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Build a RESTful API backend using FastAPI (Python)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Create an interactive React.js frontend with 5 pages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Support multiple file formats: TXT, PDF, DOCX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Generate professional PDF plagiarism reports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Store analysis history in SQLite database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Achieve &gt;85% accuracy on test document set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Write 100+ unit tests for code reliability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417320"/>
            <a:ext cx="429768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80" y="1508760"/>
            <a:ext cx="4023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6A34A"/>
                </a:solidFill>
              </a:rPr>
              <a:t>✅  In Scope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Text-based document comparison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English language documents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Local reference document database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Web-based interface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PDF report generation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4434840"/>
            <a:ext cx="4297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4526279"/>
            <a:ext cx="402336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DC2626"/>
                </a:solidFill>
              </a:rPr>
              <a:t>❌  Out of Scope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Internet / web crawling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Code plagiarism detection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Multi-language support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User authentication system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Mobile application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B82F6"/>
                </a:solidFill>
              </a:rPr>
              <a:t>The tools and libraries powering the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5394960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4996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Python 3.14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4708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FAFF"/>
                </a:solidFill>
              </a:rPr>
              <a:t>Core programming language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77440"/>
            <a:ext cx="5394960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4140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76148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FAFF"/>
                </a:solidFill>
              </a:rPr>
              <a:t>REST API framework — fast &amp; modern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91840"/>
            <a:ext cx="5394960" cy="822960"/>
          </a:xfrm>
          <a:prstGeom prst="rect">
            <a:avLst/>
          </a:prstGeom>
          <a:solidFill>
            <a:srgbClr val="067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3284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React.js + Vite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67588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FAFF"/>
                </a:solidFill>
              </a:rPr>
              <a:t>Frontend UI framework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5394960" cy="822960"/>
          </a:xfrm>
          <a:prstGeom prst="rect">
            <a:avLst/>
          </a:prstGeom>
          <a:solidFill>
            <a:srgbClr val="0E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42428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scikit-learn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59028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FAFF"/>
                </a:solidFill>
              </a:rPr>
              <a:t>TF-IDF vectorization &amp; cosine sim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120640"/>
            <a:ext cx="5394960" cy="822960"/>
          </a:xfrm>
          <a:prstGeom prst="rect">
            <a:avLst/>
          </a:prstGeom>
          <a:solidFill>
            <a:srgbClr val="0E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51572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NLTK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550468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FAFF"/>
                </a:solidFill>
              </a:rPr>
              <a:t>Tokenization &amp; stopword removal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463040"/>
            <a:ext cx="5394960" cy="822960"/>
          </a:xfrm>
          <a:prstGeom prst="rect">
            <a:avLst/>
          </a:prstGeom>
          <a:solidFill>
            <a:srgbClr val="0E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14996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RapidFuzz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184708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FAFF"/>
                </a:solidFill>
              </a:rPr>
              <a:t>Ultra-fast fuzzy string matching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377440"/>
            <a:ext cx="5394960" cy="822960"/>
          </a:xfrm>
          <a:prstGeom prst="rect">
            <a:avLst/>
          </a:prstGeom>
          <a:solidFill>
            <a:srgbClr val="713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24140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SQLAlchemy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276148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FAFF"/>
                </a:solidFill>
              </a:rPr>
              <a:t>ORM — Python ↔ SQLite database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291840"/>
            <a:ext cx="5394960" cy="822960"/>
          </a:xfrm>
          <a:prstGeom prst="rect">
            <a:avLst/>
          </a:prstGeom>
          <a:solidFill>
            <a:srgbClr val="713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8" y="33284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ReportLab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367588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FAFF"/>
                </a:solidFill>
              </a:rPr>
              <a:t>PDF report generation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206240"/>
            <a:ext cx="5394960" cy="822960"/>
          </a:xfrm>
          <a:prstGeom prst="rect">
            <a:avLst/>
          </a:prstGeom>
          <a:solidFill>
            <a:srgbClr val="067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8" y="42428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Axios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459028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FAFF"/>
                </a:solidFill>
              </a:rPr>
              <a:t>HTTP requests from React to API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5120640"/>
            <a:ext cx="5394960" cy="822960"/>
          </a:xfrm>
          <a:prstGeom prst="rect">
            <a:avLst/>
          </a:prstGeom>
          <a:solidFill>
            <a:srgbClr val="4C0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6208" y="51572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pytest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550468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FAFF"/>
                </a:solidFill>
              </a:rPr>
              <a:t>100+ unit tests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B82F6"/>
                </a:solidFill>
              </a:rPr>
              <a:t>3-tier architecture: Frontend → Backend →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47120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6362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LAYER 1 — FRONTEND  (React.js + Vite  ·  Port 5173)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391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D4FB"/>
                </a:solidFill>
              </a:rPr>
              <a:t>Home  ·  Analyze  ·  Results  ·  History  ·  Documents  |  Axios HTTP calls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67919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</a:rPr>
              <a:t>▼  HTTP / 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11247120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8094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LAYER 2 — BACKEND   (FastAPI + Python  ·  Port 8000)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564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D4FB"/>
                </a:solidFill>
              </a:rPr>
              <a:t>Routes: /analyze  /documents  /reports  |  Services: TF-IDF · N-gram · Fuzzy ·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4096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</a:rPr>
              <a:t>▼  HTTP / 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43400"/>
            <a:ext cx="11247120" cy="1188720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39826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LAYER 3 — DATABASE  (SQLite + SQLAlchemy)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7375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D4FB"/>
                </a:solidFill>
              </a:rPr>
              <a:t>Tables: reference_documents  ·  analysis_history  ·  analysis_reports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623560"/>
            <a:ext cx="112471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7150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E293B"/>
                </a:solidFill>
              </a:rPr>
              <a:t>→  1. User submits text or file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E293B"/>
                </a:solidFill>
              </a:rPr>
              <a:t>→  2. React sends POST /api/analyze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E293B"/>
                </a:solidFill>
              </a:rPr>
              <a:t>→  3. FastAPI loads reference docs from SQLite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E293B"/>
                </a:solidFill>
              </a:rPr>
              <a:t>→  4. Runs 3 NLP algorithms in sequence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E293B"/>
                </a:solidFill>
              </a:rPr>
              <a:t>→  5. Calculates weighted combined score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E293B"/>
                </a:solidFill>
              </a:rPr>
              <a:t>→  6. Saves result → returns JSON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E293B"/>
                </a:solidFill>
              </a:rPr>
              <a:t>→  7. React renders Results 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NLP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B82F6"/>
                </a:solidFill>
              </a:rPr>
              <a:t>How raw text becomes a similarity score — step by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1051560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99616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4708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RAW INPUT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1463040"/>
            <a:ext cx="10332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554480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"Machine Learning is a branch of AI that helps computers LEARN!"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23160"/>
            <a:ext cx="1051560" cy="8046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459736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80720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NORMALIZE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2423160"/>
            <a:ext cx="10332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2514600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"machine learning is a branch of ai that helps computers learn"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461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1051560" cy="804672"/>
          </a:xfrm>
          <a:prstGeom prst="rect">
            <a:avLst/>
          </a:prstGeom>
          <a:solidFill>
            <a:srgbClr val="0E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419856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76732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TOKENIZE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3383280"/>
            <a:ext cx="10332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E7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474720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["machine", "learning", "is", "a", "branch", "of", "ai", "helps", "computers", "learn"]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2062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43400"/>
            <a:ext cx="1051560" cy="804672"/>
          </a:xfrm>
          <a:prstGeom prst="rect">
            <a:avLst/>
          </a:prstGeom>
          <a:solidFill>
            <a:srgbClr val="713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379976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472744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REMOVE STOPWORDS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4343400"/>
            <a:ext cx="10332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713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4434840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["machine", "learning", "branch", "ai", "helps", "computers", "learn"]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</a:rPr>
              <a:t>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303520"/>
            <a:ext cx="1051560" cy="804672"/>
          </a:xfrm>
          <a:prstGeom prst="rect">
            <a:avLst/>
          </a:prstGeom>
          <a:solidFill>
            <a:srgbClr val="4C0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5340096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568756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ALGORITHMS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63040" y="5303520"/>
            <a:ext cx="10332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4C0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00200" y="5394960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TF-IDF  +  N-gram  +  Fuzzy  →  Combined Score  →  Classification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Algorithm 1 — TF-IDF Similarity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B82F6"/>
                </a:solidFill>
              </a:rPr>
              <a:t>Term Frequency × Inverse Document Frequency  ·  Weight: 50%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11612880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What is TF-IDF?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48840"/>
            <a:ext cx="7498079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240280"/>
            <a:ext cx="722375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E3A8A"/>
                </a:solidFill>
              </a:rPr>
              <a:t>How It Works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TF (Term Frequency) = How often a word appears in the document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IDF (Inverse Doc Freq) = How RARE the word is across ALL documents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TF-IDF Score = TF × IDF   →   Rare but frequent words score highest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Example: 'blockchain' scores high; 'the' scores near zero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148840"/>
            <a:ext cx="39319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240280"/>
            <a:ext cx="3657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E3A8A"/>
                </a:solidFill>
              </a:rPr>
              <a:t>Cosine Similarity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Convert text to TF-IDF number vector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cos(θ) = (A · B) / (||A|| × ||B||)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Score 0 = completely different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Score 1 = identical documents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709160"/>
            <a:ext cx="11612880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73659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8A"/>
                </a:solidFill>
              </a:rPr>
              <a:t>Why 50% weight?  →  Best at capturing semantic / topic-level similarity.  Even paraphrased content scores well if same vocabulary is used.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303520"/>
            <a:ext cx="55778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53766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Text A: Machine learning is a subset of AI.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7424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Text B: ML is part of artificial intelligence.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126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Similarity: 82%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5303520"/>
            <a:ext cx="55778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53766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Text A: Rome was an ancient civilization.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7424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Text B: Blockchain uses distributed ledgers.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6126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Similarity: 4%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Algorithm 2 — N-Gram Similarity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B82F6"/>
                </a:solidFill>
              </a:rPr>
              <a:t>Detecting copied phrases using word sequences  ·  Weight: 20%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11612880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What is an N-Gram?  →  A sequence of N consecutive words in a text.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40280"/>
            <a:ext cx="3657600" cy="1645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30428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Unigrams
(N=1)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346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FAFF"/>
                </a:solidFill>
              </a:rPr>
              <a:t>["artificial", "intelligence",
"is", "amazing"]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240280"/>
            <a:ext cx="3657600" cy="1645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230428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Bigrams
(N=2)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28346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FAFF"/>
                </a:solidFill>
              </a:rPr>
              <a:t>["artificial intelligence",
"intelligence is", "is amazing"]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240280"/>
            <a:ext cx="3657600" cy="1645920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30428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Trigrams
(N=3)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8346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FAFF"/>
                </a:solidFill>
              </a:rPr>
              <a:t>["artificial intelligence is",
"intelligence is amazing"]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069080"/>
            <a:ext cx="11612880" cy="5029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965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We use Bigrams (N=2)  ·  Jaccard Similarity = Common N-grams ÷ Total unique N-grams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663440"/>
            <a:ext cx="71323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754879"/>
            <a:ext cx="6858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E3A8A"/>
                </a:solidFill>
              </a:rPr>
              <a:t>Worked Example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Text 1 bigrams: {"machine learning", "learning is", "is fast"}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Text 2 bigrams: {"machine learning", "learning can", "can fail"}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Common bigrams: {"machine learning"}  =  1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Total unique:   5  →  Jaccard = 1/5 = 20%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4663440"/>
            <a:ext cx="42976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80" y="4754879"/>
            <a:ext cx="4023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E3A8A"/>
                </a:solidFill>
              </a:rPr>
              <a:t>Pros &amp; Cons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Catches exact phrase copying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Low score for paraphrased text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Fast to compute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Works with any language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Algorithm 3 — Fuzzy Matching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B82F6"/>
                </a:solidFill>
              </a:rPr>
              <a:t>Sentence-level similarity with tolerance for variations  ·  Weight: 30%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11612880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Fuzzy matching compares strings character-by-character, tolerating typos, word order changes, and minor modifications.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40280"/>
            <a:ext cx="2743200" cy="1280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3042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Simple Ratio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700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FAFF"/>
                </a:solidFill>
              </a:rPr>
              <a:t>Direct character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821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90%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240280"/>
            <a:ext cx="2743200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3042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Token Sort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6700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FAFF"/>
                </a:solidFill>
              </a:rPr>
              <a:t>Compare after sorting words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1821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95%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240280"/>
            <a:ext cx="2743200" cy="1280160"/>
          </a:xfrm>
          <a:prstGeom prst="rect">
            <a:avLst/>
          </a:prstGeom>
          <a:solidFill>
            <a:srgbClr val="0E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3042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Token 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6700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FAFF"/>
                </a:solidFill>
              </a:rPr>
              <a:t>Common words ÷ all words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1821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88%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2240280"/>
            <a:ext cx="2743200" cy="1280160"/>
          </a:xfrm>
          <a:prstGeom prst="rect">
            <a:avLst/>
          </a:prstGeom>
          <a:solidFill>
            <a:srgbClr val="713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3042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WRatio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6700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FAFF"/>
                </a:solidFill>
              </a:rPr>
              <a:t>Smart weighted combination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1821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93%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703320"/>
            <a:ext cx="777240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794759"/>
            <a:ext cx="7498079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E3A8A"/>
                </a:solidFill>
              </a:rPr>
              <a:t>How Sentence Coverage Works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Split both documents into individual sentences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Compare each query sentence vs all reference sentences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Keep matches that score above 82% threshold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Final Score = (matched sentences / total sentences) × avg match quality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Example: 8/10 matched at 90% avg → 8/10 × 90 = 72%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703320"/>
            <a:ext cx="365760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794759"/>
            <a:ext cx="338328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6A34A"/>
                </a:solidFill>
              </a:rPr>
              <a:t>Why Useful?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Catches minor modifications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Handles word order changes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Detects typo-masked plagiarism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Threshold: 82% to avoid false positives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Combined Scoring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B82F6"/>
                </a:solidFill>
              </a:rPr>
              <a:t>How three scores become one final verdict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10789920" cy="502920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3619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53619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53619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Raw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5361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Weighted 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03120"/>
            <a:ext cx="10789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103120"/>
            <a:ext cx="109728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2128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TF-IDF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21284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2128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89.87%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2128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44.94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761487"/>
            <a:ext cx="10789920" cy="594360"/>
          </a:xfrm>
          <a:prstGeom prst="rect">
            <a:avLst/>
          </a:prstGeom>
          <a:solidFill>
            <a:srgbClr val="F8FAFF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761487"/>
            <a:ext cx="109728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871215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N-Gram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871215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871215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64.13%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871215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12.83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419856"/>
            <a:ext cx="10789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419856"/>
            <a:ext cx="109728" cy="594360"/>
          </a:xfrm>
          <a:prstGeom prst="rect">
            <a:avLst/>
          </a:prstGeom>
          <a:solidFill>
            <a:srgbClr val="0E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52958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7348"/>
                </a:solidFill>
              </a:rPr>
              <a:t>Fuzzy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352958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52958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99.37%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52958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29.81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114800"/>
            <a:ext cx="10789920" cy="566928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1605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COMBINED SCORE  =  44.94 + 12.83 + 29.81  =  87.57%   →   Potential Plagiarism  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8A"/>
                </a:solidFill>
              </a:rPr>
              <a:t>Classification Thresholds: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257800"/>
            <a:ext cx="2148840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5303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 – 20%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" y="565099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Mostly Original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06039" y="5257800"/>
            <a:ext cx="2148840" cy="82296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79191" y="5303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20 – 40%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79191" y="565099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Low Similarity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59" y="5257800"/>
            <a:ext cx="2148840" cy="8229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10912" y="5303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40 – 60%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10912" y="565099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Moderate Similarity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69479" y="5257800"/>
            <a:ext cx="2148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42631" y="5303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60 – 80%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42631" y="565099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High Similarity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1200" y="5257800"/>
            <a:ext cx="2148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74352" y="5303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80 – 100%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74352" y="565099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Potential Plagiarism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B82F6"/>
                </a:solidFill>
              </a:rPr>
              <a:t>SQLite + SQLAlchemy ORM — 3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508760"/>
            <a:ext cx="3749039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3619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reference_documents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057400"/>
            <a:ext cx="3749039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11226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🔑 id (PK)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496312"/>
            <a:ext cx="3749039" cy="420624"/>
          </a:xfrm>
          <a:prstGeom prst="rect">
            <a:avLst/>
          </a:prstGeom>
          <a:solidFill>
            <a:srgbClr val="F1F5F9"/>
          </a:solidFill>
          <a:ln w="508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55117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   filename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935224"/>
            <a:ext cx="3749039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9900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   original_filename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374136"/>
            <a:ext cx="3749039" cy="420624"/>
          </a:xfrm>
          <a:prstGeom prst="rect">
            <a:avLst/>
          </a:prstGeom>
          <a:solidFill>
            <a:srgbClr val="F1F5F9"/>
          </a:solidFill>
          <a:ln w="508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4290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   file_extension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813048"/>
            <a:ext cx="3749039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867911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   file_size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4251960"/>
            <a:ext cx="3749039" cy="420624"/>
          </a:xfrm>
          <a:prstGeom prst="rect">
            <a:avLst/>
          </a:prstGeom>
          <a:solidFill>
            <a:srgbClr val="F1F5F9"/>
          </a:solidFill>
          <a:ln w="508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30682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   text_content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690872"/>
            <a:ext cx="3749039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74573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   word_count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5129783"/>
            <a:ext cx="3749039" cy="420624"/>
          </a:xfrm>
          <a:prstGeom prst="rect">
            <a:avLst/>
          </a:prstGeom>
          <a:solidFill>
            <a:srgbClr val="F1F5F9"/>
          </a:solidFill>
          <a:ln w="508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5184647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   sentence_count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5568696"/>
            <a:ext cx="3749039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562355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   upload_date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1508760"/>
            <a:ext cx="3749039" cy="502920"/>
          </a:xfrm>
          <a:prstGeom prst="rect">
            <a:avLst/>
          </a:prstGeom>
          <a:solidFill>
            <a:srgbClr val="0E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79" y="153619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analysis_history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2057400"/>
            <a:ext cx="3749039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E7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79" y="211226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🔑 id (PK)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2496312"/>
            <a:ext cx="3749039" cy="420624"/>
          </a:xfrm>
          <a:prstGeom prst="rect">
            <a:avLst/>
          </a:prstGeom>
          <a:solidFill>
            <a:srgbClr val="F1F5F9"/>
          </a:solidFill>
          <a:ln w="5080">
            <a:solidFill>
              <a:srgbClr val="0E7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79" y="255117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   document_name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2935224"/>
            <a:ext cx="3749039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E7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79" y="29900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   analysis_date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3374136"/>
            <a:ext cx="3749039" cy="420624"/>
          </a:xfrm>
          <a:prstGeom prst="rect">
            <a:avLst/>
          </a:prstGeom>
          <a:solidFill>
            <a:srgbClr val="F1F5F9"/>
          </a:solidFill>
          <a:ln w="5080">
            <a:solidFill>
              <a:srgbClr val="0E7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79" y="34290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   overall_similarity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3813048"/>
            <a:ext cx="3749039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E7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79" y="3867911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   tfidf_score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4251960"/>
            <a:ext cx="3749039" cy="420624"/>
          </a:xfrm>
          <a:prstGeom prst="rect">
            <a:avLst/>
          </a:prstGeom>
          <a:solidFill>
            <a:srgbClr val="F1F5F9"/>
          </a:solidFill>
          <a:ln w="5080">
            <a:solidFill>
              <a:srgbClr val="0E7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79" y="430682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   ngram_score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0" y="4690872"/>
            <a:ext cx="3749039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E7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79" y="474573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   fuzzy_score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5129783"/>
            <a:ext cx="3749039" cy="420624"/>
          </a:xfrm>
          <a:prstGeom prst="rect">
            <a:avLst/>
          </a:prstGeom>
          <a:solidFill>
            <a:srgbClr val="F1F5F9"/>
          </a:solidFill>
          <a:ln w="5080">
            <a:solidFill>
              <a:srgbClr val="0E7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79" y="5184647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   classification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5568696"/>
            <a:ext cx="3749039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E7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79" y="562355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   total_matches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6007608"/>
            <a:ext cx="3749039" cy="420624"/>
          </a:xfrm>
          <a:prstGeom prst="rect">
            <a:avLst/>
          </a:prstGeom>
          <a:solidFill>
            <a:srgbClr val="F1F5F9"/>
          </a:solidFill>
          <a:ln w="5080">
            <a:solidFill>
              <a:srgbClr val="0E7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97679" y="606247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   sources (JSON)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6446520"/>
            <a:ext cx="3749039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E7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97679" y="6501383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   sentence_matches (JSON)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06240" y="6885431"/>
            <a:ext cx="3749039" cy="420624"/>
          </a:xfrm>
          <a:prstGeom prst="rect">
            <a:avLst/>
          </a:prstGeom>
          <a:solidFill>
            <a:srgbClr val="F1F5F9"/>
          </a:solidFill>
          <a:ln w="5080">
            <a:solidFill>
              <a:srgbClr val="0E7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79" y="6940295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   submitted_text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83879" y="1508760"/>
            <a:ext cx="3749039" cy="502920"/>
          </a:xfrm>
          <a:prstGeom prst="rect">
            <a:avLst/>
          </a:prstGeom>
          <a:solidFill>
            <a:srgbClr val="713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75319" y="153619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analysis_reports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83879" y="2057400"/>
            <a:ext cx="3749039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713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75319" y="211226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🔑 id (PK)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83879" y="2496312"/>
            <a:ext cx="3749039" cy="420624"/>
          </a:xfrm>
          <a:prstGeom prst="rect">
            <a:avLst/>
          </a:prstGeom>
          <a:solidFill>
            <a:srgbClr val="F1F5F9"/>
          </a:solidFill>
          <a:ln w="5080">
            <a:solidFill>
              <a:srgbClr val="713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75319" y="255117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🔗 analysis_id (FK→history)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83879" y="2935224"/>
            <a:ext cx="3749039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713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75319" y="29900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   report_filename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83879" y="3374136"/>
            <a:ext cx="3749039" cy="420624"/>
          </a:xfrm>
          <a:prstGeom prst="rect">
            <a:avLst/>
          </a:prstGeom>
          <a:solidFill>
            <a:srgbClr val="F1F5F9"/>
          </a:solidFill>
          <a:ln w="5080">
            <a:solidFill>
              <a:srgbClr val="713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75319" y="34290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   generation_date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83879" y="3813048"/>
            <a:ext cx="3749039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713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75319" y="3867911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   report_format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83879" y="4251960"/>
            <a:ext cx="3749039" cy="420624"/>
          </a:xfrm>
          <a:prstGeom prst="rect">
            <a:avLst/>
          </a:prstGeom>
          <a:solidFill>
            <a:srgbClr val="F1F5F9"/>
          </a:solidFill>
          <a:ln w="5080">
            <a:solidFill>
              <a:srgbClr val="713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75319" y="430682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   file_path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83879" y="4690872"/>
            <a:ext cx="3749039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713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75319" y="474573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   file_size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8600" y="6217920"/>
            <a:ext cx="11704320" cy="411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" y="624535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8A"/>
                </a:solidFill>
              </a:rPr>
              <a:t>relationship:  analysis_history  ──has many──►  analysis_reports    |  reference_documents  ──used by──►  analysis_history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API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B82F6"/>
                </a:solidFill>
              </a:rPr>
              <a:t>RESTful API built with FastAPI  ·  Auto-docs at /api/docs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822960" cy="6583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618488"/>
            <a:ext cx="749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1508760"/>
            <a:ext cx="489204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54533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/api/analyze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85623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Analyze pasted text for plagiarism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86000"/>
            <a:ext cx="822960" cy="6583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" y="2395728"/>
            <a:ext cx="749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2286000"/>
            <a:ext cx="489204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232257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/api/analyze/file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334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Analyze uploaded TXT / PDF / DOCX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63239"/>
            <a:ext cx="822960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" y="3172968"/>
            <a:ext cx="749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3063239"/>
            <a:ext cx="489204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3099815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/api/analyze/history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41071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Retrieve all past analysis records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840479"/>
            <a:ext cx="822960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" y="3950207"/>
            <a:ext cx="749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3840479"/>
            <a:ext cx="489204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3877055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/api/analyze/history/{id}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18795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Get detailed result for one analysis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617720"/>
            <a:ext cx="822960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" y="4727448"/>
            <a:ext cx="749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4617720"/>
            <a:ext cx="489204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465429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/api/analyze/history/{id}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9651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Delete an analysis record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394960"/>
            <a:ext cx="822960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" y="5504688"/>
            <a:ext cx="749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5394960"/>
            <a:ext cx="489204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4440" y="543153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/api/analyze/statistics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57424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Get system-wide stats &amp; counts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1508760"/>
            <a:ext cx="822960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54496" y="1618488"/>
            <a:ext cx="749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86600" y="1508760"/>
            <a:ext cx="489204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78040" y="154533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/api/documents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185623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List all uploaded reference documents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286000"/>
            <a:ext cx="822960" cy="6583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54496" y="2395728"/>
            <a:ext cx="749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86600" y="2286000"/>
            <a:ext cx="489204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8040" y="232257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/api/documents/upload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26334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Upload a new reference document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3063239"/>
            <a:ext cx="822960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54496" y="3172968"/>
            <a:ext cx="749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86600" y="3063239"/>
            <a:ext cx="489204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78040" y="3099815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/api/documents/{id}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78040" y="341071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Remove a reference document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3840479"/>
            <a:ext cx="822960" cy="6583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54496" y="3950207"/>
            <a:ext cx="749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86600" y="3840479"/>
            <a:ext cx="489204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78040" y="3877055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/api/reports/generate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78040" y="418795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Generate a PDF report for an analysis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4617720"/>
            <a:ext cx="822960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54496" y="4727448"/>
            <a:ext cx="749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86600" y="4617720"/>
            <a:ext cx="489204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78040" y="465429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/api/reports/download/{id}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78040" y="49651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Download the generated PDF report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6181344"/>
            <a:ext cx="11612880" cy="411480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620877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👉  Interactive API docs available at:   http://localhost:8000/api/docs   (Swagger UI)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Frontend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B82F6"/>
                </a:solidFill>
              </a:rPr>
              <a:t>5 React pages built with Vite  ·  Runs on port 5173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508760"/>
            <a:ext cx="2240280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536192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57276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Home
/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2267712"/>
            <a:ext cx="22402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2340864"/>
            <a:ext cx="20848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Hero section with project intro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3182112"/>
            <a:ext cx="22402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3255264"/>
            <a:ext cx="20848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Feature cards with icons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4096512"/>
            <a:ext cx="22402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4169664"/>
            <a:ext cx="20848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Live statistics from backend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5010912"/>
            <a:ext cx="22402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5084064"/>
            <a:ext cx="20848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Start Analyzing CTA button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1508760"/>
            <a:ext cx="2240280" cy="6583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1536192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157276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Analyze
/analyze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2267712"/>
            <a:ext cx="22402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2340864"/>
            <a:ext cx="20848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Paste Text tab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3182112"/>
            <a:ext cx="22402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0" y="3255264"/>
            <a:ext cx="20848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Upload File tab (TXT/PDF/DOCX)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4096512"/>
            <a:ext cx="22402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4169664"/>
            <a:ext cx="20848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Loading spinner during analysis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0" y="5010912"/>
            <a:ext cx="22402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5084064"/>
            <a:ext cx="20848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Error messages for validation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19472" y="1508760"/>
            <a:ext cx="2240280" cy="658368"/>
          </a:xfrm>
          <a:prstGeom prst="rect">
            <a:avLst/>
          </a:prstGeom>
          <a:solidFill>
            <a:srgbClr val="0E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10912" y="1536192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13832" y="157276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Results
/results/:id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19472" y="2267712"/>
            <a:ext cx="22402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0E7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10912" y="2340864"/>
            <a:ext cx="20848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Similarity % with colour coding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19472" y="3182112"/>
            <a:ext cx="22402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0E7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0912" y="3255264"/>
            <a:ext cx="20848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3 component score cards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19472" y="4096512"/>
            <a:ext cx="22402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0E7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10912" y="4169664"/>
            <a:ext cx="20848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Top matching sources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19472" y="5010912"/>
            <a:ext cx="22402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0E7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10912" y="5084064"/>
            <a:ext cx="20848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Download PDF Report button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78624" y="1508760"/>
            <a:ext cx="2240280" cy="658368"/>
          </a:xfrm>
          <a:prstGeom prst="rect">
            <a:avLst/>
          </a:prstGeom>
          <a:solidFill>
            <a:srgbClr val="713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70064" y="1536192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72983" y="157276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History
/history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78624" y="2267712"/>
            <a:ext cx="22402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713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70064" y="2340864"/>
            <a:ext cx="20848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List of all past analyses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78624" y="3182112"/>
            <a:ext cx="22402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713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70064" y="3255264"/>
            <a:ext cx="20848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Date, score, classification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78624" y="4096512"/>
            <a:ext cx="22402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713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70064" y="4169664"/>
            <a:ext cx="20848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Click to view full details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78624" y="5010912"/>
            <a:ext cx="22402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713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70064" y="5084064"/>
            <a:ext cx="20848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Delete individual records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37776" y="1508760"/>
            <a:ext cx="2240280" cy="658368"/>
          </a:xfrm>
          <a:prstGeom prst="rect">
            <a:avLst/>
          </a:prstGeom>
          <a:solidFill>
            <a:srgbClr val="4C0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29216" y="1536192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32136" y="157276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Documents
/documents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37776" y="2267712"/>
            <a:ext cx="22402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4C0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29216" y="2340864"/>
            <a:ext cx="20848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View all reference docs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37776" y="3182112"/>
            <a:ext cx="22402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4C0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29216" y="3255264"/>
            <a:ext cx="20848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Upload new document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37776" y="4096512"/>
            <a:ext cx="22402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4C0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29216" y="4169664"/>
            <a:ext cx="20848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Word count &amp; file info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637776" y="5010912"/>
            <a:ext cx="22402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4C0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29216" y="5084064"/>
            <a:ext cx="20848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Delete reference docs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Project Folder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B82F6"/>
                </a:solidFill>
              </a:rPr>
              <a:t>Clean modular architecture — separation of concerns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566928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361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#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3852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backend/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65299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app/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9207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  main.py          ← FastAPI entry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18841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  config.py        ← Settings &amp; thresholds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4561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  api/             ← Route handlers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07238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    routes_analysis.py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299155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    routes_documents.py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52592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    routes_reports.py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752697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  models/          ← DB models + schemas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97946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  services/        ← NLP algorithms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20624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    preprocessing.py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433011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    tfidf_similarity.py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65978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    ngram_similarity.py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86553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    fuzzy_matching.py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11332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    plagiarism_engine.py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34009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  utils/           ← Helpers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566867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datasets/          ← Sample &amp; test docs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79363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tests/             ← 100+ pytest 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020409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requirements.txt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2471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evaluation.py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508760"/>
            <a:ext cx="566928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5361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# Frontend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193852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frontend/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165299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src/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39207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  main.jsx         ← Entry 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2618841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  App.jsx          ← Routing setup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284561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  index.css        ← Global styles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307238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  pages/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299155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    Home.jsx/.css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352592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    Analyze.jsx/.css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3752697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    Results.jsx/.css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397946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    History.jsx/.css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420624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    Documents.jsx/.css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433011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  components/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65978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    Navbar.jsx/.css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4886553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  services/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511332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    api.js         ← All API calls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34009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package.json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5566867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  vite.config.js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579363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6020409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README.md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62471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DEMO_GUIDE.md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647395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FF"/>
                </a:solidFill>
              </a:rPr>
              <a:t>PROJECT_REPORT.md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How to Run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B82F6"/>
                </a:solidFill>
              </a:rPr>
              <a:t>Step-by-step startup guide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777240" cy="2286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2331720"/>
            <a:ext cx="713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8992" y="1508760"/>
            <a:ext cx="4937760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581912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8A"/>
                </a:solidFill>
              </a:rPr>
              <a:t>Start Backend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011680"/>
            <a:ext cx="489204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075688"/>
            <a:ext cx="46634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EFAC"/>
                </a:solidFill>
              </a:rPr>
              <a:t>cd backend
.\venv\Scripts\activate
uvicorn app.main:app --reload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74136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293B"/>
                </a:solidFill>
              </a:rPr>
              <a:t>ℹ  Terminal 1  ·  Runs on http://localhost:8000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08760"/>
            <a:ext cx="777240" cy="2286000"/>
          </a:xfrm>
          <a:prstGeom prst="rect">
            <a:avLst/>
          </a:prstGeom>
          <a:solidFill>
            <a:srgbClr val="0E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2331720"/>
            <a:ext cx="713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22592" y="1508760"/>
            <a:ext cx="4937760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E7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1581912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7348"/>
                </a:solidFill>
              </a:rPr>
              <a:t>Start Frontend Server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2011680"/>
            <a:ext cx="489204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2075688"/>
            <a:ext cx="46634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EFAC"/>
                </a:solidFill>
              </a:rPr>
              <a:t>cd frontend
npm run dev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374136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293B"/>
                </a:solidFill>
              </a:rPr>
              <a:t>ℹ  Terminal 2  ·  Runs on http://localhost:5173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023360"/>
            <a:ext cx="777240" cy="2286000"/>
          </a:xfrm>
          <a:prstGeom prst="rect">
            <a:avLst/>
          </a:prstGeom>
          <a:solidFill>
            <a:srgbClr val="713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" y="4846320"/>
            <a:ext cx="713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8992" y="4023360"/>
            <a:ext cx="4937760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713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096512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13F12"/>
                </a:solidFill>
              </a:rPr>
              <a:t>Upload Reference Documents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4526280"/>
            <a:ext cx="489204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4590288"/>
            <a:ext cx="46634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EFAC"/>
                </a:solidFill>
              </a:rPr>
              <a:t>Go to Documents page → Upload 5 files from:
backend/datasets/sample_documents/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888736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293B"/>
                </a:solidFill>
              </a:rPr>
              <a:t>ℹ  One-time setup  ·  Builds the reference database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023360"/>
            <a:ext cx="777240" cy="2286000"/>
          </a:xfrm>
          <a:prstGeom prst="rect">
            <a:avLst/>
          </a:prstGeom>
          <a:solidFill>
            <a:srgbClr val="4C0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4846320"/>
            <a:ext cx="713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22592" y="4023360"/>
            <a:ext cx="4937760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4C0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4096512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0D99"/>
                </a:solidFill>
              </a:rPr>
              <a:t>Run Plagiarism Analysis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4526280"/>
            <a:ext cx="489204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78040" y="4590288"/>
            <a:ext cx="46634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EFAC"/>
                </a:solidFill>
              </a:rPr>
              <a:t>Go to Analyze → Paste text or upload file
Click 'Analyze for Plagiarism'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5888736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293B"/>
                </a:solidFill>
              </a:rPr>
              <a:t>ℹ  Results appear in seconds  ·  History saved automatically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Test Results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B82F6"/>
                </a:solidFill>
              </a:rPr>
              <a:t>4 test cases · 100% accuracy on all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11612880" cy="502920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36192"/>
            <a:ext cx="3063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Test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536192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536192"/>
            <a:ext cx="1325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536192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1536192"/>
            <a:ext cx="1325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84831"/>
            <a:ext cx="1161288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221991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high_similarity_text.txt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221991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Directly copied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221991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87.57%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221991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Potential Plagiarism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98480" y="2194560"/>
            <a:ext cx="109728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0" y="2240279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 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834639"/>
            <a:ext cx="11612880" cy="685800"/>
          </a:xfrm>
          <a:prstGeom prst="rect">
            <a:avLst/>
          </a:prstGeom>
          <a:solidFill>
            <a:srgbClr val="F0F9FF"/>
          </a:solidFill>
          <a:ln w="50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971799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moderate_similarity_text.txt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97179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Paraphrased / reworded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971799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37.13%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971799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Low Similarity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98480" y="2944368"/>
            <a:ext cx="109728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0" y="2990087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 PASS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584448"/>
            <a:ext cx="1161288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72160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low_similarity_text.txt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7216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Completely different topic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721608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3.34%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372160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Mostly Original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98480" y="3694176"/>
            <a:ext cx="109728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98480" y="3739896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 PASS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334256"/>
            <a:ext cx="11612880" cy="685800"/>
          </a:xfrm>
          <a:prstGeom prst="rect">
            <a:avLst/>
          </a:prstGeom>
          <a:solidFill>
            <a:srgbClr val="F0F9FF"/>
          </a:solidFill>
          <a:ln w="50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4471416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original_text.txt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447141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Original written content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471416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14.96%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4471416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Mostly Original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98480" y="4443984"/>
            <a:ext cx="109728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98480" y="4489704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 PASS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138928"/>
            <a:ext cx="1161288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1937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✅  Overall System Accuracy:   4 / 4 Tests PASSED   →   100%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852160"/>
            <a:ext cx="2743200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588873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Avg TF-IDF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1813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49.51%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0" y="5852160"/>
            <a:ext cx="2743200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840" y="588873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Avg N-Gram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61813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17.71%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5852160"/>
            <a:ext cx="2743200" cy="731520"/>
          </a:xfrm>
          <a:prstGeom prst="rect">
            <a:avLst/>
          </a:prstGeom>
          <a:solidFill>
            <a:srgbClr val="0E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588873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Avg Fuzzy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61813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24.84%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52560" y="5852160"/>
            <a:ext cx="2743200" cy="7315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0" y="588873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61813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100%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Limitations &amp; 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B82F6"/>
                </a:solidFill>
              </a:rPr>
              <a:t>Honest assessment + roadmap for improvement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548640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600200"/>
            <a:ext cx="521208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DC2626"/>
                </a:solidFill>
              </a:rPr>
              <a:t>⚠️  Current Limitations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●  Local database only — no internet/web search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●  English language support only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●  Very short texts (&lt;50 chars) may be inaccurate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●  Cannot detect code or image plagiarism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●  Heavy paraphrasing may reduce scores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293B"/>
                </a:solidFill>
              </a:rPr>
              <a:t>●  No user authentication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08760"/>
            <a:ext cx="5943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600200"/>
            <a:ext cx="566928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6A34A"/>
                </a:solidFill>
              </a:rPr>
              <a:t>🚀  Short-Term (1–3 months)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User login system (teacher/student roles)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Batch upload — analyze 50 files at once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Email PDF reports automatically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Dark mode UI theme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4023360"/>
            <a:ext cx="594360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4114800"/>
            <a:ext cx="56692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E3A8A"/>
                </a:solidFill>
              </a:rPr>
              <a:t>🔭  Long-Term (6+ months)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BERT / sentence-transformers for better semantics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Internet search integration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Multi-language support (Hindi, Telugu…)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LMS integration (Moodle, Google Classroom)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Code plagiarism using AST comparison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293B"/>
                </a:solidFill>
              </a:rPr>
              <a:t>●  Blockchain certificates for originality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Viva 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B82F6"/>
                </a:solidFill>
              </a:rPr>
              <a:t>Top questions examiners ask — be prepared!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685800" cy="15727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2075688"/>
            <a:ext cx="621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" y="1508760"/>
            <a:ext cx="5029200" cy="1572768"/>
          </a:xfrm>
          <a:prstGeom prst="rect">
            <a:avLst/>
          </a:prstGeom>
          <a:solidFill>
            <a:srgbClr val="FFFFFF"/>
          </a:solidFill>
          <a:ln w="889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581912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What is TF-IDF?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20824"/>
            <a:ext cx="4800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Term Frequency × Inverse Document Frequency. Measures word importance in a document vs all documents. Rare but frequent words score highest.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685800" cy="15727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2075688"/>
            <a:ext cx="621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31152" y="1508760"/>
            <a:ext cx="5029200" cy="1572768"/>
          </a:xfrm>
          <a:prstGeom prst="rect">
            <a:avLst/>
          </a:prstGeom>
          <a:solidFill>
            <a:srgbClr val="FFFFFF"/>
          </a:solidFill>
          <a:ln w="889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581912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Why 3 algorithms?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020824"/>
            <a:ext cx="4800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Each catches different plagiarism: TF-IDF=semantic, N-gram=exact phrases, Fuzzy=minor modifications. Combined = better accuracy.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27832"/>
            <a:ext cx="685800" cy="15727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" y="3794759"/>
            <a:ext cx="621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" y="3227832"/>
            <a:ext cx="5029200" cy="1572768"/>
          </a:xfrm>
          <a:prstGeom prst="rect">
            <a:avLst/>
          </a:prstGeom>
          <a:solidFill>
            <a:srgbClr val="FFFFFF"/>
          </a:solidFill>
          <a:ln w="889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300984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Why FastAPI over Flask?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739896"/>
            <a:ext cx="4800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FastAPI is faster, has automatic Swagger docs, supports async, and has built-in Pydantic validation — better for modern APIs.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227832"/>
            <a:ext cx="685800" cy="15727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3794759"/>
            <a:ext cx="621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31152" y="3227832"/>
            <a:ext cx="5029200" cy="1572768"/>
          </a:xfrm>
          <a:prstGeom prst="rect">
            <a:avLst/>
          </a:prstGeom>
          <a:solidFill>
            <a:srgbClr val="FFFFFF"/>
          </a:solidFill>
          <a:ln w="889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3300984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What is cosine similarity?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739896"/>
            <a:ext cx="4800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Measures angle between two TF-IDF vectors. cos(0°)=1.0 (identical). cos(90°)=0.0 (completely different).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946904"/>
            <a:ext cx="685800" cy="15727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" y="5513832"/>
            <a:ext cx="621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7552" y="4946904"/>
            <a:ext cx="5029200" cy="1572768"/>
          </a:xfrm>
          <a:prstGeom prst="rect">
            <a:avLst/>
          </a:prstGeom>
          <a:solidFill>
            <a:srgbClr val="FFFFFF"/>
          </a:solidFill>
          <a:ln w="889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020056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How does it handle paraphrasing?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458968"/>
            <a:ext cx="4800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TF-IDF captures topic-level similarity even when words change. If same vocab/concepts are used, TF-IDF still gives a high score.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946904"/>
            <a:ext cx="685800" cy="15727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496" y="5513832"/>
            <a:ext cx="621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31152" y="4946904"/>
            <a:ext cx="5029200" cy="1572768"/>
          </a:xfrm>
          <a:prstGeom prst="rect">
            <a:avLst/>
          </a:prstGeom>
          <a:solidFill>
            <a:srgbClr val="FFFFFF"/>
          </a:solidFill>
          <a:ln w="889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5020056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What are the limitations?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5458968"/>
            <a:ext cx="4800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No internet search, English only, no code/image detection, heavy paraphrasing may evade. Designed as assistant for human review.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88952" cy="36576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AD4FB"/>
                </a:solidFill>
              </a:rPr>
              <a:t>What we built · What we learned · What comes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11247120" cy="3017520"/>
          </a:xfrm>
          <a:prstGeom prst="rect">
            <a:avLst/>
          </a:prstGeom>
          <a:solidFill>
            <a:srgbClr val="0D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334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Project Achievements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35808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3-algorithm NLP pipeline (TF-IDF + N-gram + Fuzzy Matching)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7413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Full-stack web app — FastAPI backend + React.js 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12463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100% accuracy on 4 evaluation test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50791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PDF report generation with colour-coded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SQLite database with full analysis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27448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100+ unit tests for reliability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65775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Supports TXT, PDF, and DOCX file formats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687568"/>
            <a:ext cx="11247120" cy="594360"/>
          </a:xfrm>
          <a:prstGeom prst="rect">
            <a:avLst/>
          </a:prstGeom>
          <a:solidFill>
            <a:srgbClr val="0F0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7332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DD3FC"/>
                </a:solidFill>
              </a:rPr>
              <a:t>This project demonstrates how multiple AI/NLP techniques can be combined to solve a real-world problem — detecting academic plagiarism automatically.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